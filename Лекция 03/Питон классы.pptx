
<file path=[Content_Types].xml><?xml version="1.0" encoding="utf-8"?>
<Types xmlns="http://schemas.openxmlformats.org/package/2006/content-types">
  <Default Extension="fntdata" ContentType="application/x-fontdata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8"/>
  </p:notesMasterIdLst>
  <p:sldIdLst>
    <p:sldId id="256" r:id="rId2"/>
    <p:sldId id="257" r:id="rId3"/>
    <p:sldId id="258" r:id="rId4"/>
    <p:sldId id="263" r:id="rId5"/>
    <p:sldId id="260" r:id="rId6"/>
    <p:sldId id="262" r:id="rId7"/>
  </p:sldIdLst>
  <p:sldSz cx="9144000" cy="5143500" type="screen16x9"/>
  <p:notesSz cx="6858000" cy="9144000"/>
  <p:embeddedFontLst>
    <p:embeddedFont>
      <p:font typeface="Lato" panose="020F0502020204030203" pitchFamily="34" charset="0"/>
      <p:regular r:id="rId9"/>
      <p:bold r:id="rId10"/>
      <p:italic r:id="rId11"/>
      <p:boldItalic r:id="rId12"/>
    </p:embeddedFont>
    <p:embeddedFont>
      <p:font typeface="Montserrat" panose="00000500000000000000" pitchFamily="2" charset="-52"/>
      <p:regular r:id="rId13"/>
      <p:bold r:id="rId14"/>
      <p:italic r:id="rId15"/>
      <p:boldItalic r:id="rId16"/>
    </p:embeddedFont>
    <p:embeddedFont>
      <p:font typeface="Roboto Mono" panose="020B0604020202020204" charset="0"/>
      <p:regular r:id="rId17"/>
      <p:bold r:id="rId18"/>
      <p:italic r:id="rId19"/>
      <p:boldItalic r:id="rId2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7" d="100"/>
          <a:sy n="107" d="100"/>
        </p:scale>
        <p:origin x="754" y="7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font" Target="fonts/font5.fntdata"/><Relationship Id="rId18" Type="http://schemas.openxmlformats.org/officeDocument/2006/relationships/font" Target="fonts/font10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font" Target="fonts/font4.fntdata"/><Relationship Id="rId17" Type="http://schemas.openxmlformats.org/officeDocument/2006/relationships/font" Target="fonts/font9.fntdata"/><Relationship Id="rId2" Type="http://schemas.openxmlformats.org/officeDocument/2006/relationships/slide" Target="slides/slide1.xml"/><Relationship Id="rId16" Type="http://schemas.openxmlformats.org/officeDocument/2006/relationships/font" Target="fonts/font8.fntdata"/><Relationship Id="rId20" Type="http://schemas.openxmlformats.org/officeDocument/2006/relationships/font" Target="fonts/font1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font" Target="fonts/font7.fntdata"/><Relationship Id="rId23" Type="http://schemas.openxmlformats.org/officeDocument/2006/relationships/theme" Target="theme/theme1.xml"/><Relationship Id="rId10" Type="http://schemas.openxmlformats.org/officeDocument/2006/relationships/font" Target="fonts/font2.fntdata"/><Relationship Id="rId19" Type="http://schemas.openxmlformats.org/officeDocument/2006/relationships/font" Target="fonts/font11.fntdata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font" Target="fonts/font6.fntdata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79a40a53d1_0_1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79a40a53d1_0_1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79d694e176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379d694e176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79d694e176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379d694e176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rot="5400000">
            <a:off x="7500300" y="505"/>
            <a:ext cx="1643700" cy="1643700"/>
          </a:xfrm>
          <a:prstGeom prst="diagStripe">
            <a:avLst>
              <a:gd name="adj" fmla="val 0"/>
            </a:avLst>
          </a:prstGeom>
          <a:solidFill>
            <a:schemeClr val="lt1">
              <a:alpha val="303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0" y="490"/>
            <a:ext cx="5153705" cy="5134399"/>
            <a:chOff x="0" y="75"/>
            <a:chExt cx="5153705" cy="515295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455" y="-225"/>
              <a:ext cx="5152800" cy="51537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150" y="1145825"/>
              <a:ext cx="3996600" cy="3996900"/>
            </a:xfrm>
            <a:prstGeom prst="diagStripe">
              <a:avLst>
                <a:gd name="adj" fmla="val 58774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-5400000">
              <a:off x="1646" y="-75"/>
              <a:ext cx="2299800" cy="23001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flipH="1">
              <a:off x="652821" y="590035"/>
              <a:ext cx="2300100" cy="2299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" name="Google Shape;16;p2"/>
          <p:cNvSpPr txBox="1">
            <a:spLocks noGrp="1"/>
          </p:cNvSpPr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subTitle" idx="1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21" name="Google Shape;21;p3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name="adj" fmla="val 49469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name="adj" fmla="val 0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26;p3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27;p3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28;p3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29;p3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30;p3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31;p3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32;p3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33;p3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34;p3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35;p3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36;p3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37;p3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38;p3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9" name="Google Shape;39;p3"/>
          <p:cNvSpPr txBox="1">
            <a:spLocks noGrp="1"/>
          </p:cNvSpPr>
          <p:nvPr>
            <p:ph type="title"/>
          </p:nvPr>
        </p:nvSpPr>
        <p:spPr>
          <a:xfrm>
            <a:off x="823850" y="2053000"/>
            <a:ext cx="4587000" cy="1148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oogle Shape;42;p4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43" name="Google Shape;43;p4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44;p4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5" name="Google Shape;45;p4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46" name="Google Shape;46;p4"/>
          <p:cNvSpPr txBox="1">
            <a:spLocks noGrp="1"/>
          </p:cNvSpPr>
          <p:nvPr>
            <p:ph type="body" idx="1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Google Shape;49;p5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0" name="Google Shape;50;p5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51;p5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2" name="Google Shape;52;p5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53" name="Google Shape;53;p5"/>
          <p:cNvSpPr txBox="1">
            <a:spLocks noGrp="1"/>
          </p:cNvSpPr>
          <p:nvPr>
            <p:ph type="body" idx="1"/>
          </p:nvPr>
        </p:nvSpPr>
        <p:spPr>
          <a:xfrm>
            <a:off x="1297500" y="1567550"/>
            <a:ext cx="34032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54" name="Google Shape;54;p5"/>
          <p:cNvSpPr txBox="1">
            <a:spLocks noGrp="1"/>
          </p:cNvSpPr>
          <p:nvPr>
            <p:ph type="body" idx="2"/>
          </p:nvPr>
        </p:nvSpPr>
        <p:spPr>
          <a:xfrm>
            <a:off x="4933221" y="1567550"/>
            <a:ext cx="34032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55" name="Google Shape;55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Google Shape;57;p6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8" name="Google Shape;58;p6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59;p6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0" name="Google Shape;60;p6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61" name="Google Shape;61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Google Shape;63;p7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64" name="Google Shape;64;p7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" name="Google Shape;65;p7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6" name="Google Shape;66;p7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3798900" cy="149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67" name="Google Shape;67;p7"/>
          <p:cNvSpPr txBox="1">
            <a:spLocks noGrp="1"/>
          </p:cNvSpPr>
          <p:nvPr>
            <p:ph type="body" idx="1"/>
          </p:nvPr>
        </p:nvSpPr>
        <p:spPr>
          <a:xfrm>
            <a:off x="1297500" y="1972550"/>
            <a:ext cx="3798900" cy="241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68" name="Google Shape;68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8"/>
          <p:cNvGrpSpPr/>
          <p:nvPr/>
        </p:nvGrpSpPr>
        <p:grpSpPr>
          <a:xfrm>
            <a:off x="4406400" y="0"/>
            <a:ext cx="4737600" cy="5143500"/>
            <a:chOff x="4406400" y="0"/>
            <a:chExt cx="4737600" cy="5143500"/>
          </a:xfrm>
        </p:grpSpPr>
        <p:sp>
          <p:nvSpPr>
            <p:cNvPr id="71" name="Google Shape;71;p8"/>
            <p:cNvSpPr/>
            <p:nvPr/>
          </p:nvSpPr>
          <p:spPr>
            <a:xfrm rot="5400000">
              <a:off x="4407900" y="-1500"/>
              <a:ext cx="4734600" cy="4737600"/>
            </a:xfrm>
            <a:prstGeom prst="diagStripe">
              <a:avLst>
                <a:gd name="adj" fmla="val 49469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" name="Google Shape;72;p8"/>
            <p:cNvSpPr/>
            <p:nvPr/>
          </p:nvSpPr>
          <p:spPr>
            <a:xfrm rot="5400000">
              <a:off x="4840825" y="6000"/>
              <a:ext cx="4298700" cy="4286700"/>
            </a:xfrm>
            <a:prstGeom prst="diagStripe">
              <a:avLst>
                <a:gd name="adj" fmla="val 0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" name="Google Shape;73;p8"/>
            <p:cNvSpPr/>
            <p:nvPr/>
          </p:nvSpPr>
          <p:spPr>
            <a:xfrm rot="-5400000">
              <a:off x="5618399" y="123664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" name="Google Shape;74;p8"/>
            <p:cNvSpPr/>
            <p:nvPr/>
          </p:nvSpPr>
          <p:spPr>
            <a:xfrm flipH="1">
              <a:off x="5849857" y="144407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" name="Google Shape;75;p8"/>
            <p:cNvSpPr/>
            <p:nvPr/>
          </p:nvSpPr>
          <p:spPr>
            <a:xfrm rot="-5400000">
              <a:off x="5987081" y="246974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Google Shape;76;p8"/>
            <p:cNvSpPr/>
            <p:nvPr/>
          </p:nvSpPr>
          <p:spPr>
            <a:xfrm flipH="1">
              <a:off x="6222115" y="267717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" name="Google Shape;77;p8"/>
            <p:cNvSpPr/>
            <p:nvPr/>
          </p:nvSpPr>
          <p:spPr>
            <a:xfrm rot="-5400000">
              <a:off x="6675341" y="1862244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" name="Google Shape;78;p8"/>
            <p:cNvSpPr/>
            <p:nvPr/>
          </p:nvSpPr>
          <p:spPr>
            <a:xfrm flipH="1">
              <a:off x="6908099" y="206968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" name="Google Shape;79;p8"/>
            <p:cNvSpPr/>
            <p:nvPr/>
          </p:nvSpPr>
          <p:spPr>
            <a:xfrm rot="-5400000">
              <a:off x="6861141" y="247808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" name="Google Shape;80;p8"/>
            <p:cNvSpPr/>
            <p:nvPr/>
          </p:nvSpPr>
          <p:spPr>
            <a:xfrm flipH="1">
              <a:off x="7965266" y="269319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" name="Google Shape;81;p8"/>
            <p:cNvSpPr/>
            <p:nvPr/>
          </p:nvSpPr>
          <p:spPr>
            <a:xfrm flipH="1">
              <a:off x="8145082" y="3309036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 rot="-5400000">
              <a:off x="7047599" y="309534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 flipH="1">
              <a:off x="7276649" y="330278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" name="Google Shape;84;p8"/>
            <p:cNvSpPr/>
            <p:nvPr/>
          </p:nvSpPr>
          <p:spPr>
            <a:xfrm rot="-5400000">
              <a:off x="7227414" y="37111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" name="Google Shape;85;p8"/>
            <p:cNvSpPr/>
            <p:nvPr/>
          </p:nvSpPr>
          <p:spPr>
            <a:xfrm flipH="1">
              <a:off x="7462448" y="391862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" name="Google Shape;86;p8"/>
            <p:cNvSpPr/>
            <p:nvPr/>
          </p:nvSpPr>
          <p:spPr>
            <a:xfrm rot="-5400000">
              <a:off x="8102491" y="3718856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 flipH="1">
              <a:off x="8334533" y="3926292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 rot="-5400000">
              <a:off x="8288290" y="433470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9" name="Google Shape;89;p8"/>
          <p:cNvSpPr txBox="1">
            <a:spLocks noGrp="1"/>
          </p:cNvSpPr>
          <p:nvPr>
            <p:ph type="title"/>
          </p:nvPr>
        </p:nvSpPr>
        <p:spPr>
          <a:xfrm>
            <a:off x="823850" y="866775"/>
            <a:ext cx="4587000" cy="3521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9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93" name="Google Shape;93;p9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" name="Google Shape;94;p9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5" name="Google Shape;95;p9"/>
          <p:cNvSpPr txBox="1">
            <a:spLocks noGrp="1"/>
          </p:cNvSpPr>
          <p:nvPr>
            <p:ph type="title"/>
          </p:nvPr>
        </p:nvSpPr>
        <p:spPr>
          <a:xfrm>
            <a:off x="1297500" y="1658325"/>
            <a:ext cx="3036300" cy="1751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96" name="Google Shape;96;p9"/>
          <p:cNvSpPr txBox="1">
            <a:spLocks noGrp="1"/>
          </p:cNvSpPr>
          <p:nvPr>
            <p:ph type="subTitle" idx="1"/>
          </p:nvPr>
        </p:nvSpPr>
        <p:spPr>
          <a:xfrm>
            <a:off x="1297500" y="3538000"/>
            <a:ext cx="3036300" cy="50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>
            <a:endParaRPr/>
          </a:p>
        </p:txBody>
      </p:sp>
      <p:sp>
        <p:nvSpPr>
          <p:cNvPr id="97" name="Google Shape;97;p9"/>
          <p:cNvSpPr txBox="1">
            <a:spLocks noGrp="1"/>
          </p:cNvSpPr>
          <p:nvPr>
            <p:ph type="body" idx="2"/>
          </p:nvPr>
        </p:nvSpPr>
        <p:spPr>
          <a:xfrm>
            <a:off x="4648200" y="1696600"/>
            <a:ext cx="3676800" cy="234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98" name="Google Shape;98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10"/>
          <p:cNvGrpSpPr/>
          <p:nvPr/>
        </p:nvGrpSpPr>
        <p:grpSpPr>
          <a:xfrm>
            <a:off x="0" y="4128572"/>
            <a:ext cx="698925" cy="684657"/>
            <a:chOff x="0" y="3785672"/>
            <a:chExt cx="698925" cy="684657"/>
          </a:xfrm>
        </p:grpSpPr>
        <p:sp>
          <p:nvSpPr>
            <p:cNvPr id="101" name="Google Shape;101;p10"/>
            <p:cNvSpPr/>
            <p:nvPr/>
          </p:nvSpPr>
          <p:spPr>
            <a:xfrm rot="-5400000">
              <a:off x="0" y="3785672"/>
              <a:ext cx="544800" cy="544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" name="Google Shape;102;p10"/>
            <p:cNvSpPr/>
            <p:nvPr/>
          </p:nvSpPr>
          <p:spPr>
            <a:xfrm flipH="1">
              <a:off x="154125" y="3925529"/>
              <a:ext cx="544800" cy="544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3" name="Google Shape;103;p10"/>
          <p:cNvSpPr txBox="1">
            <a:spLocks noGrp="1"/>
          </p:cNvSpPr>
          <p:nvPr>
            <p:ph type="body" idx="1"/>
          </p:nvPr>
        </p:nvSpPr>
        <p:spPr>
          <a:xfrm>
            <a:off x="812725" y="4305375"/>
            <a:ext cx="6936000" cy="523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>
            <a:endParaRPr/>
          </a:p>
        </p:txBody>
      </p:sp>
      <p:sp>
        <p:nvSpPr>
          <p:cNvPr id="104" name="Google Shape;104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11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107" name="Google Shape;107;p11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name="adj" fmla="val 49469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" name="Google Shape;108;p11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name="adj" fmla="val 0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" name="Google Shape;109;p11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" name="Google Shape;110;p11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" name="Google Shape;111;p11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" name="Google Shape;112;p11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" name="Google Shape;113;p11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" name="Google Shape;114;p11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" name="Google Shape;115;p11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" name="Google Shape;116;p11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" name="Google Shape;119;p11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" name="Google Shape;120;p11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" name="Google Shape;121;p11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" name="Google Shape;122;p11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" name="Google Shape;123;p11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" name="Google Shape;124;p11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25" name="Google Shape;125;p11"/>
          <p:cNvSpPr txBox="1">
            <a:spLocks noGrp="1"/>
          </p:cNvSpPr>
          <p:nvPr>
            <p:ph type="title" hasCustomPrompt="1"/>
          </p:nvPr>
        </p:nvSpPr>
        <p:spPr>
          <a:xfrm>
            <a:off x="823850" y="1284675"/>
            <a:ext cx="47760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126" name="Google Shape;126;p11"/>
          <p:cNvSpPr txBox="1">
            <a:spLocks noGrp="1"/>
          </p:cNvSpPr>
          <p:nvPr>
            <p:ph type="body" idx="1"/>
          </p:nvPr>
        </p:nvSpPr>
        <p:spPr>
          <a:xfrm>
            <a:off x="823850" y="2643124"/>
            <a:ext cx="4776000" cy="121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127" name="Google Shape;12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focus">
    <p:bg>
      <p:bgPr>
        <a:solidFill>
          <a:schemeClr val="dk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lvl="1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lvl="2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lvl="3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lvl="4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lvl="5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lvl="6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lvl="7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lvl="8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3"/>
          <p:cNvSpPr txBox="1">
            <a:spLocks noGrp="1"/>
          </p:cNvSpPr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python классы</a:t>
            </a:r>
            <a:endParaRPr/>
          </a:p>
        </p:txBody>
      </p:sp>
      <p:sp>
        <p:nvSpPr>
          <p:cNvPr id="135" name="Google Shape;135;p13"/>
          <p:cNvSpPr txBox="1">
            <a:spLocks noGrp="1"/>
          </p:cNvSpPr>
          <p:nvPr>
            <p:ph type="subTitle" idx="1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4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1" name="Google Shape;141;p14"/>
          <p:cNvSpPr txBox="1">
            <a:spLocks noGrp="1"/>
          </p:cNvSpPr>
          <p:nvPr>
            <p:ph type="body" idx="1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Класс — это шаблон, по которому создаются объекты. 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ru"/>
              <a:t>Объект — это экземпляр класса, содержащий данные и методы для работы с этими данными.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5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7" name="Google Shape;147;p15"/>
          <p:cNvSpPr txBox="1">
            <a:spLocks noGrp="1"/>
          </p:cNvSpPr>
          <p:nvPr>
            <p:ph type="body" idx="1"/>
          </p:nvPr>
        </p:nvSpPr>
        <p:spPr>
          <a:xfrm>
            <a:off x="1297500" y="1567550"/>
            <a:ext cx="7038900" cy="340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900" dirty="0"/>
              <a:t>Конструктор-метод, который автоматически вызывается при создании объектов. Его также можно назвать конструктором объектов класса.</a:t>
            </a:r>
            <a:endParaRPr sz="1900" dirty="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900" dirty="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class</a:t>
            </a:r>
            <a:r>
              <a:rPr lang="ru" sz="19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ru" sz="1900" dirty="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Person:</a:t>
            </a:r>
            <a:endParaRPr sz="1900" dirty="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9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ru" sz="1900" dirty="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    def</a:t>
            </a:r>
            <a:r>
              <a:rPr lang="ru" sz="19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ru" sz="1900" dirty="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__init__(self, name, age):</a:t>
            </a:r>
            <a:endParaRPr sz="1900" dirty="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900" dirty="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        self.name =</a:t>
            </a:r>
            <a:r>
              <a:rPr lang="ru" sz="19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ru" sz="1900" dirty="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name</a:t>
            </a:r>
            <a:endParaRPr sz="1900" dirty="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900" dirty="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        self.age =</a:t>
            </a:r>
            <a:r>
              <a:rPr lang="ru" sz="19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ru" sz="1900" dirty="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age </a:t>
            </a:r>
            <a:endParaRPr sz="1900" dirty="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900" dirty="0">
                <a:latin typeface="Roboto Mono"/>
                <a:ea typeface="Roboto Mono"/>
                <a:cs typeface="Roboto Mono"/>
                <a:sym typeface="Roboto Mono"/>
              </a:rPr>
              <a:t>Конструктор должен принимать как минимум один параметр ссылку на текущий объект - self.</a:t>
            </a:r>
            <a:endParaRPr sz="1900" dirty="0"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5BB5390-DA26-457C-AFB0-8884C24C5A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Получение параметров и функций класса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A2493269-03D9-47FF-9AD2-C4348B89D56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marL="146050" indent="0">
              <a:buNone/>
            </a:pPr>
            <a:r>
              <a:rPr lang="en-US" dirty="0"/>
              <a:t>class Person:</a:t>
            </a:r>
          </a:p>
          <a:p>
            <a:pPr marL="146050" indent="0">
              <a:buNone/>
            </a:pPr>
            <a:r>
              <a:rPr lang="en-US" dirty="0"/>
              <a:t> </a:t>
            </a:r>
          </a:p>
          <a:p>
            <a:pPr marL="146050" indent="0">
              <a:buNone/>
            </a:pPr>
            <a:r>
              <a:rPr lang="en-US" dirty="0"/>
              <a:t>    def __</a:t>
            </a:r>
            <a:r>
              <a:rPr lang="en-US" dirty="0" err="1"/>
              <a:t>init</a:t>
            </a:r>
            <a:r>
              <a:rPr lang="en-US" dirty="0"/>
              <a:t>__(self, name, age):</a:t>
            </a:r>
          </a:p>
          <a:p>
            <a:pPr marL="146050" indent="0">
              <a:buNone/>
            </a:pPr>
            <a:r>
              <a:rPr lang="en-US" dirty="0"/>
              <a:t>        self.name = name    # </a:t>
            </a:r>
            <a:r>
              <a:rPr lang="ru-RU" dirty="0"/>
              <a:t>имя человека</a:t>
            </a:r>
          </a:p>
          <a:p>
            <a:pPr marL="146050" indent="0">
              <a:buNone/>
            </a:pPr>
            <a:r>
              <a:rPr lang="ru-RU" dirty="0"/>
              <a:t>        </a:t>
            </a:r>
            <a:r>
              <a:rPr lang="en-US" dirty="0" err="1"/>
              <a:t>self.age</a:t>
            </a:r>
            <a:r>
              <a:rPr lang="en-US" dirty="0"/>
              <a:t> = age        # </a:t>
            </a:r>
            <a:r>
              <a:rPr lang="ru-RU" dirty="0"/>
              <a:t>возраст человека</a:t>
            </a:r>
          </a:p>
          <a:p>
            <a:pPr marL="146050" indent="0">
              <a:buNone/>
            </a:pPr>
            <a:r>
              <a:rPr lang="ru-RU" dirty="0"/>
              <a:t> </a:t>
            </a:r>
          </a:p>
          <a:p>
            <a:pPr marL="146050" indent="0">
              <a:buNone/>
            </a:pPr>
            <a:r>
              <a:rPr lang="ru-RU" dirty="0"/>
              <a:t> </a:t>
            </a:r>
          </a:p>
          <a:p>
            <a:pPr marL="146050" indent="0">
              <a:buNone/>
            </a:pPr>
            <a:r>
              <a:rPr lang="en-US" dirty="0"/>
              <a:t>tom = Person("Tom", 22)</a:t>
            </a:r>
          </a:p>
          <a:p>
            <a:pPr marL="146050" indent="0">
              <a:buNone/>
            </a:pPr>
            <a:r>
              <a:rPr lang="en-US" dirty="0"/>
              <a:t> </a:t>
            </a:r>
          </a:p>
          <a:p>
            <a:pPr marL="146050" indent="0">
              <a:buNone/>
            </a:pPr>
            <a:r>
              <a:rPr lang="en-US" dirty="0"/>
              <a:t># </a:t>
            </a:r>
            <a:r>
              <a:rPr lang="ru-RU" dirty="0"/>
              <a:t>обращение к атрибутам</a:t>
            </a:r>
          </a:p>
          <a:p>
            <a:pPr marL="146050" indent="0">
              <a:buNone/>
            </a:pPr>
            <a:r>
              <a:rPr lang="ru-RU" dirty="0"/>
              <a:t># получение значений</a:t>
            </a:r>
          </a:p>
          <a:p>
            <a:pPr marL="146050" indent="0">
              <a:buNone/>
            </a:pPr>
            <a:r>
              <a:rPr lang="en-US" dirty="0"/>
              <a:t>print(tom.name)     # Tom</a:t>
            </a:r>
          </a:p>
          <a:p>
            <a:pPr marL="146050" indent="0">
              <a:buNone/>
            </a:pPr>
            <a:r>
              <a:rPr lang="en-US" dirty="0"/>
              <a:t>print(</a:t>
            </a:r>
            <a:r>
              <a:rPr lang="en-US" dirty="0" err="1"/>
              <a:t>tom.age</a:t>
            </a:r>
            <a:r>
              <a:rPr lang="en-US" dirty="0"/>
              <a:t>)      # 22</a:t>
            </a:r>
          </a:p>
          <a:p>
            <a:pPr marL="146050" indent="0">
              <a:buNone/>
            </a:pPr>
            <a:r>
              <a:rPr lang="en-US" dirty="0"/>
              <a:t># </a:t>
            </a:r>
            <a:r>
              <a:rPr lang="ru-RU" dirty="0"/>
              <a:t>изменение значения</a:t>
            </a:r>
          </a:p>
          <a:p>
            <a:pPr marL="146050" indent="0">
              <a:buNone/>
            </a:pPr>
            <a:r>
              <a:rPr lang="en-US" dirty="0" err="1"/>
              <a:t>tom.age</a:t>
            </a:r>
            <a:r>
              <a:rPr lang="en-US" dirty="0"/>
              <a:t> = 37</a:t>
            </a:r>
          </a:p>
          <a:p>
            <a:pPr marL="146050" indent="0">
              <a:buNone/>
            </a:pPr>
            <a:r>
              <a:rPr lang="en-US" dirty="0"/>
              <a:t>print(</a:t>
            </a:r>
            <a:r>
              <a:rPr lang="en-US" dirty="0" err="1"/>
              <a:t>tom.age</a:t>
            </a:r>
            <a:r>
              <a:rPr lang="en-US" dirty="0"/>
              <a:t>)      # 37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999258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7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Наследование</a:t>
            </a:r>
            <a:endParaRPr dirty="0"/>
          </a:p>
        </p:txBody>
      </p:sp>
      <p:sp>
        <p:nvSpPr>
          <p:cNvPr id="159" name="Google Shape;159;p17"/>
          <p:cNvSpPr txBox="1">
            <a:spLocks noGrp="1"/>
          </p:cNvSpPr>
          <p:nvPr>
            <p:ph type="body" idx="1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1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>
                <a:latin typeface="+mn-lt"/>
              </a:rPr>
              <a:t>Наследование позволяет создавать новый класс на основе уже существующего класса. </a:t>
            </a:r>
            <a:endParaRPr dirty="0">
              <a:latin typeface="+mn-lt"/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ru" dirty="0">
                <a:latin typeface="+mn-lt"/>
              </a:rPr>
              <a:t>Ключевыми понятиями наследования являются подкласс и суперкласс. Подкласс наследует от суперкласса все публичные атрибуты и методы. Суперкласс еще называется базовым (base class) или родительским (parent class), а подкласс - производным (derived class) или дочерним (child class).</a:t>
            </a: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rgbClr val="188038"/>
                </a:solidFill>
                <a:latin typeface="+mn-lt"/>
                <a:ea typeface="Roboto Mono"/>
                <a:cs typeface="Roboto Mono"/>
                <a:sym typeface="Roboto Mono"/>
              </a:rPr>
              <a:t>class</a:t>
            </a:r>
            <a:r>
              <a:rPr lang="en-US" sz="1400" dirty="0">
                <a:solidFill>
                  <a:srgbClr val="000000"/>
                </a:solidFill>
                <a:latin typeface="+mn-lt"/>
                <a:ea typeface="Arial"/>
                <a:cs typeface="Arial"/>
                <a:sym typeface="Arial"/>
              </a:rPr>
              <a:t> </a:t>
            </a:r>
            <a:r>
              <a:rPr lang="en-US" sz="1400" dirty="0">
                <a:solidFill>
                  <a:srgbClr val="188038"/>
                </a:solidFill>
                <a:latin typeface="+mn-lt"/>
                <a:ea typeface="Roboto Mono"/>
                <a:cs typeface="Arial"/>
                <a:sym typeface="Roboto Mono"/>
              </a:rPr>
              <a:t>Teacher(Person)</a:t>
            </a:r>
            <a:r>
              <a:rPr lang="en-US" sz="1400" dirty="0">
                <a:solidFill>
                  <a:srgbClr val="188038"/>
                </a:solidFill>
                <a:latin typeface="+mn-lt"/>
                <a:ea typeface="Roboto Mono"/>
                <a:cs typeface="Roboto Mono"/>
                <a:sym typeface="Roboto Mono"/>
              </a:rPr>
              <a:t>:</a:t>
            </a: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rgbClr val="000000"/>
                </a:solidFill>
                <a:latin typeface="+mn-lt"/>
                <a:ea typeface="Arial"/>
                <a:cs typeface="Arial"/>
                <a:sym typeface="Arial"/>
              </a:rPr>
              <a:t> </a:t>
            </a:r>
            <a:r>
              <a:rPr lang="en-US" sz="1400" dirty="0">
                <a:solidFill>
                  <a:srgbClr val="188038"/>
                </a:solidFill>
                <a:latin typeface="+mn-lt"/>
                <a:ea typeface="Roboto Mono"/>
                <a:cs typeface="Roboto Mono"/>
                <a:sym typeface="Roboto Mono"/>
              </a:rPr>
              <a:t>    def</a:t>
            </a:r>
            <a:r>
              <a:rPr lang="en-US" sz="1400" dirty="0">
                <a:solidFill>
                  <a:srgbClr val="000000"/>
                </a:solidFill>
                <a:latin typeface="+mn-lt"/>
                <a:ea typeface="Arial"/>
                <a:cs typeface="Arial"/>
                <a:sym typeface="Arial"/>
              </a:rPr>
              <a:t> </a:t>
            </a:r>
            <a:r>
              <a:rPr lang="en-US" sz="1400" dirty="0">
                <a:solidFill>
                  <a:srgbClr val="188038"/>
                </a:solidFill>
                <a:latin typeface="+mn-lt"/>
                <a:ea typeface="Roboto Mono"/>
                <a:cs typeface="Roboto Mono"/>
                <a:sym typeface="Roboto Mono"/>
              </a:rPr>
              <a:t>__</a:t>
            </a:r>
            <a:r>
              <a:rPr lang="en-US" sz="1400" dirty="0" err="1">
                <a:solidFill>
                  <a:srgbClr val="188038"/>
                </a:solidFill>
                <a:latin typeface="+mn-lt"/>
                <a:ea typeface="Roboto Mono"/>
                <a:cs typeface="Roboto Mono"/>
                <a:sym typeface="Roboto Mono"/>
              </a:rPr>
              <a:t>init</a:t>
            </a:r>
            <a:r>
              <a:rPr lang="en-US" sz="1400" dirty="0">
                <a:solidFill>
                  <a:srgbClr val="188038"/>
                </a:solidFill>
                <a:latin typeface="+mn-lt"/>
                <a:ea typeface="Roboto Mono"/>
                <a:cs typeface="Roboto Mono"/>
                <a:sym typeface="Roboto Mono"/>
              </a:rPr>
              <a:t>__(self, name, age):</a:t>
            </a: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rgbClr val="188038"/>
                </a:solidFill>
                <a:latin typeface="+mn-lt"/>
                <a:ea typeface="Roboto Mono"/>
                <a:cs typeface="Roboto Mono"/>
                <a:sym typeface="Roboto Mono"/>
              </a:rPr>
              <a:t>        super.__</a:t>
            </a:r>
            <a:r>
              <a:rPr lang="en-US" sz="1400" dirty="0" err="1">
                <a:solidFill>
                  <a:srgbClr val="188038"/>
                </a:solidFill>
                <a:latin typeface="+mn-lt"/>
                <a:ea typeface="Roboto Mono"/>
                <a:cs typeface="Roboto Mono"/>
                <a:sym typeface="Roboto Mono"/>
              </a:rPr>
              <a:t>init</a:t>
            </a:r>
            <a:r>
              <a:rPr lang="en-US" sz="1400" dirty="0">
                <a:solidFill>
                  <a:srgbClr val="188038"/>
                </a:solidFill>
                <a:latin typeface="+mn-lt"/>
                <a:ea typeface="Roboto Mono"/>
                <a:cs typeface="Roboto Mono"/>
                <a:sym typeface="Roboto Mono"/>
              </a:rPr>
              <a:t>__(name, age)</a:t>
            </a: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rgbClr val="188038"/>
                </a:solidFill>
                <a:latin typeface="+mj-lt"/>
                <a:ea typeface="Roboto Mono"/>
                <a:cs typeface="Roboto Mono"/>
                <a:sym typeface="Roboto Mono"/>
              </a:rPr>
              <a:t>        </a:t>
            </a:r>
            <a:endParaRPr dirty="0">
              <a:latin typeface="+mj-l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48C272C-EC48-4D6E-997A-A9A53D0B7D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Ссылка на пример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339BEF7E-D508-4018-83D2-E47FB07B0B5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https://colab.research.google.com/drive/1soeQFevmpnhWIMuI92GRsjkql3ikDDbu?usp=sharing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353669631"/>
      </p:ext>
    </p:extLst>
  </p:cSld>
  <p:clrMapOvr>
    <a:masterClrMapping/>
  </p:clrMapOvr>
</p:sld>
</file>

<file path=ppt/theme/theme1.xml><?xml version="1.0" encoding="utf-8"?>
<a:theme xmlns:a="http://schemas.openxmlformats.org/drawingml/2006/main" name="Focus">
  <a:themeElements>
    <a:clrScheme name="Focus">
      <a:dk1>
        <a:srgbClr val="1B212C"/>
      </a:dk1>
      <a:lt1>
        <a:srgbClr val="FFFFFF"/>
      </a:lt1>
      <a:dk2>
        <a:srgbClr val="D9D9D9"/>
      </a:dk2>
      <a:lt2>
        <a:srgbClr val="82C7A5"/>
      </a:lt2>
      <a:accent1>
        <a:srgbClr val="0145AC"/>
      </a:accent1>
      <a:accent2>
        <a:srgbClr val="EECE1A"/>
      </a:accent2>
      <a:accent3>
        <a:srgbClr val="4E5567"/>
      </a:accent3>
      <a:accent4>
        <a:srgbClr val="F4D6AD"/>
      </a:accent4>
      <a:accent5>
        <a:srgbClr val="7890CD"/>
      </a:accent5>
      <a:accent6>
        <a:srgbClr val="F15E22"/>
      </a:accent6>
      <a:hlink>
        <a:srgbClr val="7890CD"/>
      </a:hlink>
      <a:folHlink>
        <a:srgbClr val="7890C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79</TotalTime>
  <Words>277</Words>
  <Application>Microsoft Office PowerPoint</Application>
  <PresentationFormat>Экран (16:9)</PresentationFormat>
  <Paragraphs>35</Paragraphs>
  <Slides>6</Slides>
  <Notes>4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6</vt:i4>
      </vt:variant>
    </vt:vector>
  </HeadingPairs>
  <TitlesOfParts>
    <vt:vector size="11" baseType="lpstr">
      <vt:lpstr>Lato</vt:lpstr>
      <vt:lpstr>Arial</vt:lpstr>
      <vt:lpstr>Montserrat</vt:lpstr>
      <vt:lpstr>Roboto Mono</vt:lpstr>
      <vt:lpstr>Focus</vt:lpstr>
      <vt:lpstr>python классы</vt:lpstr>
      <vt:lpstr>Презентация PowerPoint</vt:lpstr>
      <vt:lpstr>Презентация PowerPoint</vt:lpstr>
      <vt:lpstr>Получение параметров и функций класса</vt:lpstr>
      <vt:lpstr>Наследование</vt:lpstr>
      <vt:lpstr>Ссылка на пример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python классы</dc:title>
  <cp:lastModifiedBy>Акулин Максим Александрович</cp:lastModifiedBy>
  <cp:revision>6</cp:revision>
  <dcterms:modified xsi:type="dcterms:W3CDTF">2026-06-18T14:05:54Z</dcterms:modified>
</cp:coreProperties>
</file>